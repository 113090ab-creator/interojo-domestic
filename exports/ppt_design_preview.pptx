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04672"/>
          </a:xfrm>
          <a:prstGeom prst="rect">
            <a:avLst/>
          </a:prstGeom>
          <a:solidFill>
            <a:srgbClr val="17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86384"/>
            <a:ext cx="12191695" cy="27432"/>
          </a:xfrm>
          <a:prstGeom prst="rect">
            <a:avLst/>
          </a:prstGeom>
          <a:solidFill>
            <a:srgbClr val="D85A30"/>
          </a:solidFill>
          <a:ln w="6350">
            <a:solidFill>
              <a:srgbClr val="D85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37160"/>
            <a:ext cx="60350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국내 제품 포장현황 운영 보고서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66344"/>
            <a:ext cx="603504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3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국내 요청 물량의 생산, 포장, 용마 입고 진행 현황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35240" y="201168"/>
            <a:ext cx="425196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90" b="0">
                <a:solidFill>
                  <a:srgbClr val="E5E7EB"/>
                </a:solidFill>
                <a:latin typeface="Noto Sans KR"/>
                <a:ea typeface="Noto Sans KR"/>
                <a:cs typeface="Noto Sans KR"/>
              </a:rPr>
              <a:t>기준: ??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35240" y="438912"/>
            <a:ext cx="425196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9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산출시각: 2026-06-25 14:03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" y="950976"/>
            <a:ext cx="11384280" cy="438912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DD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66928" y="1051560"/>
            <a:ext cx="566928" cy="219456"/>
          </a:xfrm>
          <a:prstGeom prst="roundRect">
            <a:avLst/>
          </a:prstGeom>
          <a:solidFill>
            <a:srgbClr val="D85A30"/>
          </a:solidFill>
          <a:ln w="5080">
            <a:solidFill>
              <a:srgbClr val="D85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1060704"/>
            <a:ext cx="566928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주의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61872" y="1078992"/>
            <a:ext cx="1014984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40" b="1">
                <a:solidFill>
                  <a:srgbClr val="121A2A"/>
                </a:solidFill>
                <a:latin typeface="Noto Sans KR"/>
                <a:ea typeface="Noto Sans KR"/>
                <a:cs typeface="Noto Sans KR"/>
              </a:rPr>
              <a:t>용마입고율 13.3% / 미입고 165,234 PACK / 긴급 SKU 42개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1517904"/>
            <a:ext cx="1828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121A2A"/>
                </a:solidFill>
                <a:latin typeface="Noto Sans KR"/>
                <a:ea typeface="Noto Sans KR"/>
                <a:cs typeface="Noto Sans KR"/>
              </a:rPr>
              <a:t>공급 운영 KPI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0" y="1737360"/>
            <a:ext cx="3657600" cy="1261872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DD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21208" y="1810512"/>
            <a:ext cx="420624" cy="41148"/>
          </a:xfrm>
          <a:prstGeom prst="rect">
            <a:avLst/>
          </a:prstGeom>
          <a:solidFill>
            <a:srgbClr val="185FA5"/>
          </a:solidFill>
          <a:ln w="6350">
            <a:solidFill>
              <a:srgbClr val="185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9496" y="1901952"/>
            <a:ext cx="3401568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40" b="1">
                <a:solidFill>
                  <a:srgbClr val="121A2A"/>
                </a:solidFill>
                <a:latin typeface="Noto Sans KR"/>
                <a:ea typeface="Noto Sans KR"/>
                <a:cs typeface="Noto Sans KR"/>
              </a:rPr>
              <a:t>전체 KPI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" y="2103120"/>
            <a:ext cx="117043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21A2A"/>
                </a:solidFill>
                <a:latin typeface="Noto Sans KR"/>
                <a:ea typeface="Noto Sans KR"/>
                <a:cs typeface="Noto Sans KR"/>
              </a:rPr>
              <a:t>13.3%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80360" y="2212848"/>
            <a:ext cx="82296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B7280"/>
                </a:solidFill>
                <a:latin typeface="Noto Sans KR"/>
                <a:ea typeface="Noto Sans KR"/>
                <a:cs typeface="Noto Sans KR"/>
              </a:rPr>
              <a:t>용마입고율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39496" y="2496312"/>
            <a:ext cx="3383280" cy="54864"/>
          </a:xfrm>
          <a:prstGeom prst="rect">
            <a:avLst/>
          </a:prstGeom>
          <a:solidFill>
            <a:srgbClr val="F1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39496" y="2496312"/>
            <a:ext cx="450402" cy="54864"/>
          </a:xfrm>
          <a:prstGeom prst="rect">
            <a:avLst/>
          </a:prstGeom>
          <a:solidFill>
            <a:srgbClr val="185FA5"/>
          </a:solidFill>
          <a:ln w="6350">
            <a:solidFill>
              <a:srgbClr val="185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9496" y="2651760"/>
            <a:ext cx="850392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6B7280"/>
                </a:solidFill>
                <a:latin typeface="Noto Sans KR"/>
                <a:ea typeface="Noto Sans KR"/>
                <a:cs typeface="Noto Sans KR"/>
              </a:rPr>
              <a:t>요청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9496" y="2788920"/>
            <a:ext cx="85039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90" b="1">
                <a:solidFill>
                  <a:srgbClr val="121A2A"/>
                </a:solidFill>
                <a:latin typeface="Noto Sans KR"/>
                <a:ea typeface="Noto Sans KR"/>
                <a:cs typeface="Noto Sans KR"/>
              </a:rPr>
              <a:t>190,609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2651760"/>
            <a:ext cx="850392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6B7280"/>
                </a:solidFill>
                <a:latin typeface="Noto Sans KR"/>
                <a:ea typeface="Noto Sans KR"/>
                <a:cs typeface="Noto Sans KR"/>
              </a:rPr>
              <a:t>입고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89888" y="2788920"/>
            <a:ext cx="85039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30" b="1">
                <a:solidFill>
                  <a:srgbClr val="121A2A"/>
                </a:solidFill>
                <a:latin typeface="Noto Sans KR"/>
                <a:ea typeface="Noto Sans KR"/>
                <a:cs typeface="Noto Sans KR"/>
              </a:rPr>
              <a:t>25,375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40280" y="2651760"/>
            <a:ext cx="850392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6B7280"/>
                </a:solidFill>
                <a:latin typeface="Noto Sans KR"/>
                <a:ea typeface="Noto Sans KR"/>
                <a:cs typeface="Noto Sans KR"/>
              </a:rPr>
              <a:t>미입고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40280" y="2788920"/>
            <a:ext cx="85039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30" b="1">
                <a:solidFill>
                  <a:srgbClr val="D85A30"/>
                </a:solidFill>
                <a:latin typeface="Noto Sans KR"/>
                <a:ea typeface="Noto Sans KR"/>
                <a:cs typeface="Noto Sans KR"/>
              </a:rPr>
              <a:t>165,234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090672" y="2651760"/>
            <a:ext cx="850392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6B7280"/>
                </a:solidFill>
                <a:latin typeface="Noto Sans KR"/>
                <a:ea typeface="Noto Sans KR"/>
                <a:cs typeface="Noto Sans KR"/>
              </a:rPr>
              <a:t>생산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090672" y="2788920"/>
            <a:ext cx="85039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90" b="1">
                <a:solidFill>
                  <a:srgbClr val="121A2A"/>
                </a:solidFill>
                <a:latin typeface="Noto Sans KR"/>
                <a:ea typeface="Noto Sans KR"/>
                <a:cs typeface="Noto Sans KR"/>
              </a:rPr>
              <a:t>65.1%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279392" y="1737360"/>
            <a:ext cx="3657600" cy="1261872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DD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389120" y="1810512"/>
            <a:ext cx="420624" cy="41148"/>
          </a:xfrm>
          <a:prstGeom prst="rect">
            <a:avLst/>
          </a:prstGeom>
          <a:solidFill>
            <a:srgbClr val="1D9E75"/>
          </a:solidFill>
          <a:ln w="6350">
            <a:solidFill>
              <a:srgbClr val="1D9E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407407" y="1901952"/>
            <a:ext cx="3401568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40" b="1">
                <a:solidFill>
                  <a:srgbClr val="121A2A"/>
                </a:solidFill>
                <a:latin typeface="Noto Sans KR"/>
                <a:ea typeface="Noto Sans KR"/>
                <a:cs typeface="Noto Sans KR"/>
              </a:rPr>
              <a:t>본품 KPI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07407" y="2103120"/>
            <a:ext cx="117043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21A2A"/>
                </a:solidFill>
                <a:latin typeface="Noto Sans KR"/>
                <a:ea typeface="Noto Sans KR"/>
                <a:cs typeface="Noto Sans KR"/>
              </a:rPr>
              <a:t>34.7%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48272" y="2212848"/>
            <a:ext cx="82296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B7280"/>
                </a:solidFill>
                <a:latin typeface="Noto Sans KR"/>
                <a:ea typeface="Noto Sans KR"/>
                <a:cs typeface="Noto Sans KR"/>
              </a:rPr>
              <a:t>용마입고율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407407" y="2496312"/>
            <a:ext cx="3383280" cy="54864"/>
          </a:xfrm>
          <a:prstGeom prst="rect">
            <a:avLst/>
          </a:prstGeom>
          <a:solidFill>
            <a:srgbClr val="F1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407407" y="2496312"/>
            <a:ext cx="1175634" cy="54864"/>
          </a:xfrm>
          <a:prstGeom prst="rect">
            <a:avLst/>
          </a:prstGeom>
          <a:solidFill>
            <a:srgbClr val="1D9E75"/>
          </a:solidFill>
          <a:ln w="6350">
            <a:solidFill>
              <a:srgbClr val="1D9E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07407" y="2651760"/>
            <a:ext cx="850392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6B7280"/>
                </a:solidFill>
                <a:latin typeface="Noto Sans KR"/>
                <a:ea typeface="Noto Sans KR"/>
                <a:cs typeface="Noto Sans KR"/>
              </a:rPr>
              <a:t>요청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07407" y="2788920"/>
            <a:ext cx="85039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90" b="1">
                <a:solidFill>
                  <a:srgbClr val="121A2A"/>
                </a:solidFill>
                <a:latin typeface="Noto Sans KR"/>
                <a:ea typeface="Noto Sans KR"/>
                <a:cs typeface="Noto Sans KR"/>
              </a:rPr>
              <a:t>73,025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257799" y="2651760"/>
            <a:ext cx="850392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6B7280"/>
                </a:solidFill>
                <a:latin typeface="Noto Sans KR"/>
                <a:ea typeface="Noto Sans KR"/>
                <a:cs typeface="Noto Sans KR"/>
              </a:rPr>
              <a:t>입고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257799" y="2788920"/>
            <a:ext cx="85039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30" b="1">
                <a:solidFill>
                  <a:srgbClr val="121A2A"/>
                </a:solidFill>
                <a:latin typeface="Noto Sans KR"/>
                <a:ea typeface="Noto Sans KR"/>
                <a:cs typeface="Noto Sans KR"/>
              </a:rPr>
              <a:t>25,375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108192" y="2651760"/>
            <a:ext cx="850392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6B7280"/>
                </a:solidFill>
                <a:latin typeface="Noto Sans KR"/>
                <a:ea typeface="Noto Sans KR"/>
                <a:cs typeface="Noto Sans KR"/>
              </a:rPr>
              <a:t>미입고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108192" y="2788920"/>
            <a:ext cx="85039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30" b="1">
                <a:solidFill>
                  <a:srgbClr val="D85A30"/>
                </a:solidFill>
                <a:latin typeface="Noto Sans KR"/>
                <a:ea typeface="Noto Sans KR"/>
                <a:cs typeface="Noto Sans KR"/>
              </a:rPr>
              <a:t>47,650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58583" y="2651760"/>
            <a:ext cx="850392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6B7280"/>
                </a:solidFill>
                <a:latin typeface="Noto Sans KR"/>
                <a:ea typeface="Noto Sans KR"/>
                <a:cs typeface="Noto Sans KR"/>
              </a:rPr>
              <a:t>생산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58583" y="2788920"/>
            <a:ext cx="85039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90" b="1">
                <a:solidFill>
                  <a:srgbClr val="121A2A"/>
                </a:solidFill>
                <a:latin typeface="Noto Sans KR"/>
                <a:ea typeface="Noto Sans KR"/>
                <a:cs typeface="Noto Sans KR"/>
              </a:rPr>
              <a:t>66.8%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138160" y="1737360"/>
            <a:ext cx="3657600" cy="1261872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DD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247888" y="1810512"/>
            <a:ext cx="420624" cy="41148"/>
          </a:xfrm>
          <a:prstGeom prst="rect">
            <a:avLst/>
          </a:prstGeom>
          <a:solidFill>
            <a:srgbClr val="BA7517"/>
          </a:solidFill>
          <a:ln w="6350">
            <a:solidFill>
              <a:srgbClr val="BA75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266176" y="1901952"/>
            <a:ext cx="3401568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40" b="1">
                <a:solidFill>
                  <a:srgbClr val="121A2A"/>
                </a:solidFill>
                <a:latin typeface="Noto Sans KR"/>
                <a:ea typeface="Noto Sans KR"/>
                <a:cs typeface="Noto Sans KR"/>
              </a:rPr>
              <a:t>샘플 KPI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66176" y="2103120"/>
            <a:ext cx="117043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21A2A"/>
                </a:solidFill>
                <a:latin typeface="Noto Sans KR"/>
                <a:ea typeface="Noto Sans KR"/>
                <a:cs typeface="Noto Sans KR"/>
              </a:rPr>
              <a:t>0.0%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607040" y="2212848"/>
            <a:ext cx="82296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B7280"/>
                </a:solidFill>
                <a:latin typeface="Noto Sans KR"/>
                <a:ea typeface="Noto Sans KR"/>
                <a:cs typeface="Noto Sans KR"/>
              </a:rPr>
              <a:t>용마입고율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266176" y="2496312"/>
            <a:ext cx="3383280" cy="54864"/>
          </a:xfrm>
          <a:prstGeom prst="rect">
            <a:avLst/>
          </a:prstGeom>
          <a:solidFill>
            <a:srgbClr val="F1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266176" y="2651760"/>
            <a:ext cx="850392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6B7280"/>
                </a:solidFill>
                <a:latin typeface="Noto Sans KR"/>
                <a:ea typeface="Noto Sans KR"/>
                <a:cs typeface="Noto Sans KR"/>
              </a:rPr>
              <a:t>요청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66176" y="2788920"/>
            <a:ext cx="85039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90" b="1">
                <a:solidFill>
                  <a:srgbClr val="121A2A"/>
                </a:solidFill>
                <a:latin typeface="Noto Sans KR"/>
                <a:ea typeface="Noto Sans KR"/>
                <a:cs typeface="Noto Sans KR"/>
              </a:rPr>
              <a:t>117,584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116568" y="2651760"/>
            <a:ext cx="850392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6B7280"/>
                </a:solidFill>
                <a:latin typeface="Noto Sans KR"/>
                <a:ea typeface="Noto Sans KR"/>
                <a:cs typeface="Noto Sans KR"/>
              </a:rPr>
              <a:t>입고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16568" y="2788920"/>
            <a:ext cx="85039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30" b="1">
                <a:solidFill>
                  <a:srgbClr val="121A2A"/>
                </a:solidFill>
                <a:latin typeface="Noto Sans KR"/>
                <a:ea typeface="Noto Sans KR"/>
                <a:cs typeface="Noto Sans KR"/>
              </a:rPr>
              <a:t>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6960" y="2651760"/>
            <a:ext cx="850392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6B7280"/>
                </a:solidFill>
                <a:latin typeface="Noto Sans KR"/>
                <a:ea typeface="Noto Sans KR"/>
                <a:cs typeface="Noto Sans KR"/>
              </a:rPr>
              <a:t>미입고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6960" y="2788920"/>
            <a:ext cx="85039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30" b="1">
                <a:solidFill>
                  <a:srgbClr val="D85A30"/>
                </a:solidFill>
                <a:latin typeface="Noto Sans KR"/>
                <a:ea typeface="Noto Sans KR"/>
                <a:cs typeface="Noto Sans KR"/>
              </a:rPr>
              <a:t>117,584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817352" y="2651760"/>
            <a:ext cx="850392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6B7280"/>
                </a:solidFill>
                <a:latin typeface="Noto Sans KR"/>
                <a:ea typeface="Noto Sans KR"/>
                <a:cs typeface="Noto Sans KR"/>
              </a:rPr>
              <a:t>생산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817352" y="2788920"/>
            <a:ext cx="85039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90" b="1">
                <a:solidFill>
                  <a:srgbClr val="121A2A"/>
                </a:solidFill>
                <a:latin typeface="Noto Sans KR"/>
                <a:ea typeface="Noto Sans KR"/>
                <a:cs typeface="Noto Sans KR"/>
              </a:rPr>
              <a:t>60.3%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11480" y="3090672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121A2A"/>
                </a:solidFill>
                <a:latin typeface="Noto Sans KR"/>
                <a:ea typeface="Noto Sans KR"/>
                <a:cs typeface="Noto Sans KR"/>
              </a:rPr>
              <a:t>우선 대응 TOP 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183879" y="3054096"/>
            <a:ext cx="36118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121A2A"/>
                </a:solidFill>
                <a:latin typeface="Noto Sans KR"/>
                <a:ea typeface="Noto Sans KR"/>
                <a:cs typeface="Noto Sans KR"/>
              </a:rPr>
              <a:t>요청 긴급 S코드 요약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411480" y="3310128"/>
            <a:ext cx="7635240" cy="2999232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DD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411480" y="3310128"/>
            <a:ext cx="7635240" cy="347472"/>
          </a:xfrm>
          <a:prstGeom prst="rect">
            <a:avLst/>
          </a:prstGeom>
          <a:solidFill>
            <a:srgbClr val="172033"/>
          </a:solidFill>
          <a:ln w="6350">
            <a:solidFill>
              <a:srgbClr val="17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57784" y="3346704"/>
            <a:ext cx="5303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19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순위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88136" y="3346704"/>
            <a:ext cx="290779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9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제품명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995928" y="3346704"/>
            <a:ext cx="9875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19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요청 PACK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983480" y="3346704"/>
            <a:ext cx="1042415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19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용마입고율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025896" y="3346704"/>
            <a:ext cx="102412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19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미입고 PACK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050024" y="3346704"/>
            <a:ext cx="9875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19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생산진도율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57784" y="3666744"/>
            <a:ext cx="530352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60" b="0">
                <a:solidFill>
                  <a:srgbClr val="6B7280"/>
                </a:solidFill>
                <a:latin typeface="Noto Sans KR"/>
                <a:ea typeface="Noto Sans KR"/>
                <a:cs typeface="Noto Sans KR"/>
              </a:rPr>
              <a:t>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88136" y="3666744"/>
            <a:ext cx="2907792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80" b="0">
                <a:solidFill>
                  <a:srgbClr val="121A2A"/>
                </a:solidFill>
                <a:latin typeface="Noto Sans KR"/>
                <a:ea typeface="Noto Sans KR"/>
                <a:cs typeface="Noto Sans KR"/>
              </a:rPr>
              <a:t>Clalen O2O2 D_Sepia Choco EX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995928" y="3666744"/>
            <a:ext cx="987552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60" b="0">
                <a:solidFill>
                  <a:srgbClr val="121A2A"/>
                </a:solidFill>
                <a:latin typeface="Noto Sans KR"/>
                <a:ea typeface="Noto Sans KR"/>
                <a:cs typeface="Noto Sans KR"/>
              </a:rPr>
              <a:t>36,693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983480" y="3666744"/>
            <a:ext cx="1042415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60" b="0">
                <a:solidFill>
                  <a:srgbClr val="121A2A"/>
                </a:solidFill>
                <a:latin typeface="Noto Sans KR"/>
                <a:ea typeface="Noto Sans KR"/>
                <a:cs typeface="Noto Sans KR"/>
              </a:rPr>
              <a:t>26.3%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025896" y="3666744"/>
            <a:ext cx="1024128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60" b="1">
                <a:solidFill>
                  <a:srgbClr val="D85A30"/>
                </a:solidFill>
                <a:latin typeface="Noto Sans KR"/>
                <a:ea typeface="Noto Sans KR"/>
                <a:cs typeface="Noto Sans KR"/>
              </a:rPr>
              <a:t>27,053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050024" y="3666744"/>
            <a:ext cx="987552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60" b="0">
                <a:solidFill>
                  <a:srgbClr val="121A2A"/>
                </a:solidFill>
                <a:latin typeface="Noto Sans KR"/>
                <a:ea typeface="Noto Sans KR"/>
                <a:cs typeface="Noto Sans KR"/>
              </a:rPr>
              <a:t>68.1%</a:t>
            </a:r>
          </a:p>
        </p:txBody>
      </p:sp>
      <p:sp>
        <p:nvSpPr>
          <p:cNvPr id="73" name="Rectangle 72"/>
          <p:cNvSpPr/>
          <p:nvPr/>
        </p:nvSpPr>
        <p:spPr>
          <a:xfrm>
            <a:off x="502920" y="4096512"/>
            <a:ext cx="841248" cy="9144"/>
          </a:xfrm>
          <a:prstGeom prst="rect">
            <a:avLst/>
          </a:prstGeom>
          <a:solidFill>
            <a:srgbClr val="F1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466344" y="4096512"/>
            <a:ext cx="914400" cy="438912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557784" y="4105656"/>
            <a:ext cx="530352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60" b="0">
                <a:solidFill>
                  <a:srgbClr val="6B7280"/>
                </a:solidFill>
                <a:latin typeface="Noto Sans KR"/>
                <a:ea typeface="Noto Sans KR"/>
                <a:cs typeface="Noto Sans KR"/>
              </a:rPr>
              <a:t>2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88136" y="4105656"/>
            <a:ext cx="2907792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80" b="0">
                <a:solidFill>
                  <a:srgbClr val="121A2A"/>
                </a:solidFill>
                <a:latin typeface="Noto Sans KR"/>
                <a:ea typeface="Noto Sans KR"/>
                <a:cs typeface="Noto Sans KR"/>
              </a:rPr>
              <a:t>Clalen O2O2 D_Pale Choco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995928" y="4105656"/>
            <a:ext cx="987552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60" b="0">
                <a:solidFill>
                  <a:srgbClr val="121A2A"/>
                </a:solidFill>
                <a:latin typeface="Noto Sans KR"/>
                <a:ea typeface="Noto Sans KR"/>
                <a:cs typeface="Noto Sans KR"/>
              </a:rPr>
              <a:t>20,699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983480" y="4105656"/>
            <a:ext cx="1042415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60" b="0">
                <a:solidFill>
                  <a:srgbClr val="121A2A"/>
                </a:solidFill>
                <a:latin typeface="Noto Sans KR"/>
                <a:ea typeface="Noto Sans KR"/>
                <a:cs typeface="Noto Sans KR"/>
              </a:rPr>
              <a:t>0.0%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025896" y="4105656"/>
            <a:ext cx="1024128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60" b="1">
                <a:solidFill>
                  <a:srgbClr val="D85A30"/>
                </a:solidFill>
                <a:latin typeface="Noto Sans KR"/>
                <a:ea typeface="Noto Sans KR"/>
                <a:cs typeface="Noto Sans KR"/>
              </a:rPr>
              <a:t>20,699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050024" y="4105656"/>
            <a:ext cx="987552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60" b="0">
                <a:solidFill>
                  <a:srgbClr val="121A2A"/>
                </a:solidFill>
                <a:latin typeface="Noto Sans KR"/>
                <a:ea typeface="Noto Sans KR"/>
                <a:cs typeface="Noto Sans KR"/>
              </a:rPr>
              <a:t>98.4%</a:t>
            </a:r>
          </a:p>
        </p:txBody>
      </p:sp>
      <p:sp>
        <p:nvSpPr>
          <p:cNvPr id="81" name="Rectangle 80"/>
          <p:cNvSpPr/>
          <p:nvPr/>
        </p:nvSpPr>
        <p:spPr>
          <a:xfrm>
            <a:off x="502920" y="4535424"/>
            <a:ext cx="841248" cy="9144"/>
          </a:xfrm>
          <a:prstGeom prst="rect">
            <a:avLst/>
          </a:prstGeom>
          <a:solidFill>
            <a:srgbClr val="F1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557784" y="4544568"/>
            <a:ext cx="530352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60" b="0">
                <a:solidFill>
                  <a:srgbClr val="6B7280"/>
                </a:solidFill>
                <a:latin typeface="Noto Sans KR"/>
                <a:ea typeface="Noto Sans KR"/>
                <a:cs typeface="Noto Sans KR"/>
              </a:rPr>
              <a:t>3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88136" y="4544568"/>
            <a:ext cx="2907792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80" b="0">
                <a:solidFill>
                  <a:srgbClr val="121A2A"/>
                </a:solidFill>
                <a:latin typeface="Noto Sans KR"/>
                <a:ea typeface="Noto Sans KR"/>
                <a:cs typeface="Noto Sans KR"/>
              </a:rPr>
              <a:t>Clalen O2O2 D_Mute Brown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995928" y="4544568"/>
            <a:ext cx="987552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60" b="0">
                <a:solidFill>
                  <a:srgbClr val="121A2A"/>
                </a:solidFill>
                <a:latin typeface="Noto Sans KR"/>
                <a:ea typeface="Noto Sans KR"/>
                <a:cs typeface="Noto Sans KR"/>
              </a:rPr>
              <a:t>18,959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983480" y="4544568"/>
            <a:ext cx="1042415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60" b="0">
                <a:solidFill>
                  <a:srgbClr val="121A2A"/>
                </a:solidFill>
                <a:latin typeface="Noto Sans KR"/>
                <a:ea typeface="Noto Sans KR"/>
                <a:cs typeface="Noto Sans KR"/>
              </a:rPr>
              <a:t>0.0%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025896" y="4544568"/>
            <a:ext cx="1024128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60" b="1">
                <a:solidFill>
                  <a:srgbClr val="D85A30"/>
                </a:solidFill>
                <a:latin typeface="Noto Sans KR"/>
                <a:ea typeface="Noto Sans KR"/>
                <a:cs typeface="Noto Sans KR"/>
              </a:rPr>
              <a:t>18,959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050024" y="4544568"/>
            <a:ext cx="987552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60" b="0">
                <a:solidFill>
                  <a:srgbClr val="121A2A"/>
                </a:solidFill>
                <a:latin typeface="Noto Sans KR"/>
                <a:ea typeface="Noto Sans KR"/>
                <a:cs typeface="Noto Sans KR"/>
              </a:rPr>
              <a:t>80.0%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502920" y="4974336"/>
            <a:ext cx="841248" cy="9144"/>
          </a:xfrm>
          <a:prstGeom prst="rect">
            <a:avLst/>
          </a:prstGeom>
          <a:solidFill>
            <a:srgbClr val="F1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466344" y="4974336"/>
            <a:ext cx="914400" cy="438912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57784" y="4983479"/>
            <a:ext cx="530352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60" b="0">
                <a:solidFill>
                  <a:srgbClr val="6B7280"/>
                </a:solidFill>
                <a:latin typeface="Noto Sans KR"/>
                <a:ea typeface="Noto Sans KR"/>
                <a:cs typeface="Noto Sans KR"/>
              </a:rPr>
              <a:t>4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088136" y="4983479"/>
            <a:ext cx="2907792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80" b="0">
                <a:solidFill>
                  <a:srgbClr val="121A2A"/>
                </a:solidFill>
                <a:latin typeface="Noto Sans KR"/>
                <a:ea typeface="Noto Sans KR"/>
                <a:cs typeface="Noto Sans KR"/>
              </a:rPr>
              <a:t>Clalen O2O2 1Day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3995928" y="4983479"/>
            <a:ext cx="987552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60" b="0">
                <a:solidFill>
                  <a:srgbClr val="121A2A"/>
                </a:solidFill>
                <a:latin typeface="Noto Sans KR"/>
                <a:ea typeface="Noto Sans KR"/>
                <a:cs typeface="Noto Sans KR"/>
              </a:rPr>
              <a:t>17,824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983480" y="4983479"/>
            <a:ext cx="1042415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60" b="0">
                <a:solidFill>
                  <a:srgbClr val="121A2A"/>
                </a:solidFill>
                <a:latin typeface="Noto Sans KR"/>
                <a:ea typeface="Noto Sans KR"/>
                <a:cs typeface="Noto Sans KR"/>
              </a:rPr>
              <a:t>0.1%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025896" y="4983479"/>
            <a:ext cx="1024128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60" b="1">
                <a:solidFill>
                  <a:srgbClr val="D85A30"/>
                </a:solidFill>
                <a:latin typeface="Noto Sans KR"/>
                <a:ea typeface="Noto Sans KR"/>
                <a:cs typeface="Noto Sans KR"/>
              </a:rPr>
              <a:t>17,799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050024" y="4983479"/>
            <a:ext cx="987552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60" b="0">
                <a:solidFill>
                  <a:srgbClr val="121A2A"/>
                </a:solidFill>
                <a:latin typeface="Noto Sans KR"/>
                <a:ea typeface="Noto Sans KR"/>
                <a:cs typeface="Noto Sans KR"/>
              </a:rPr>
              <a:t>100.0%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02920" y="5413248"/>
            <a:ext cx="841248" cy="9144"/>
          </a:xfrm>
          <a:prstGeom prst="rect">
            <a:avLst/>
          </a:prstGeom>
          <a:solidFill>
            <a:srgbClr val="F1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557784" y="5422392"/>
            <a:ext cx="530352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60" b="0">
                <a:solidFill>
                  <a:srgbClr val="6B7280"/>
                </a:solidFill>
                <a:latin typeface="Noto Sans KR"/>
                <a:ea typeface="Noto Sans KR"/>
                <a:cs typeface="Noto Sans KR"/>
              </a:rPr>
              <a:t>5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88136" y="5422392"/>
            <a:ext cx="2907792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80" b="0">
                <a:solidFill>
                  <a:srgbClr val="121A2A"/>
                </a:solidFill>
                <a:latin typeface="Noto Sans KR"/>
                <a:ea typeface="Noto Sans KR"/>
                <a:cs typeface="Noto Sans KR"/>
              </a:rPr>
              <a:t>Clalen O2O2 D_Ash Brown EX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95928" y="5422392"/>
            <a:ext cx="987552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60" b="0">
                <a:solidFill>
                  <a:srgbClr val="121A2A"/>
                </a:solidFill>
                <a:latin typeface="Noto Sans KR"/>
                <a:ea typeface="Noto Sans KR"/>
                <a:cs typeface="Noto Sans KR"/>
              </a:rPr>
              <a:t>16,485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983480" y="5422392"/>
            <a:ext cx="1042415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60" b="0">
                <a:solidFill>
                  <a:srgbClr val="121A2A"/>
                </a:solidFill>
                <a:latin typeface="Noto Sans KR"/>
                <a:ea typeface="Noto Sans KR"/>
                <a:cs typeface="Noto Sans KR"/>
              </a:rPr>
              <a:t>0.9%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025896" y="5422392"/>
            <a:ext cx="1024128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60" b="1">
                <a:solidFill>
                  <a:srgbClr val="D85A30"/>
                </a:solidFill>
                <a:latin typeface="Noto Sans KR"/>
                <a:ea typeface="Noto Sans KR"/>
                <a:cs typeface="Noto Sans KR"/>
              </a:rPr>
              <a:t>16,344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7050024" y="5422392"/>
            <a:ext cx="987552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60" b="0">
                <a:solidFill>
                  <a:srgbClr val="121A2A"/>
                </a:solidFill>
                <a:latin typeface="Noto Sans KR"/>
                <a:ea typeface="Noto Sans KR"/>
                <a:cs typeface="Noto Sans KR"/>
              </a:rPr>
              <a:t>59.8%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502920" y="5852160"/>
            <a:ext cx="841248" cy="9144"/>
          </a:xfrm>
          <a:prstGeom prst="rect">
            <a:avLst/>
          </a:prstGeom>
          <a:solidFill>
            <a:srgbClr val="F1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466344" y="5852160"/>
            <a:ext cx="914400" cy="438912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557784" y="5861304"/>
            <a:ext cx="530352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60" b="0">
                <a:solidFill>
                  <a:srgbClr val="6B7280"/>
                </a:solidFill>
                <a:latin typeface="Noto Sans KR"/>
                <a:ea typeface="Noto Sans KR"/>
                <a:cs typeface="Noto Sans KR"/>
              </a:rPr>
              <a:t>6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88136" y="5861304"/>
            <a:ext cx="2907792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80" b="0">
                <a:solidFill>
                  <a:srgbClr val="121A2A"/>
                </a:solidFill>
                <a:latin typeface="Noto Sans KR"/>
                <a:ea typeface="Noto Sans KR"/>
                <a:cs typeface="Noto Sans KR"/>
              </a:rPr>
              <a:t>Clalen O2O2 D_Lake Gray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995928" y="5861304"/>
            <a:ext cx="987552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60" b="0">
                <a:solidFill>
                  <a:srgbClr val="121A2A"/>
                </a:solidFill>
                <a:latin typeface="Noto Sans KR"/>
                <a:ea typeface="Noto Sans KR"/>
                <a:cs typeface="Noto Sans KR"/>
              </a:rPr>
              <a:t>11,471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983480" y="5861304"/>
            <a:ext cx="1042415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60" b="0">
                <a:solidFill>
                  <a:srgbClr val="121A2A"/>
                </a:solidFill>
                <a:latin typeface="Noto Sans KR"/>
                <a:ea typeface="Noto Sans KR"/>
                <a:cs typeface="Noto Sans KR"/>
              </a:rPr>
              <a:t>0.0%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025896" y="5861304"/>
            <a:ext cx="1024128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60" b="1">
                <a:solidFill>
                  <a:srgbClr val="D85A30"/>
                </a:solidFill>
                <a:latin typeface="Noto Sans KR"/>
                <a:ea typeface="Noto Sans KR"/>
                <a:cs typeface="Noto Sans KR"/>
              </a:rPr>
              <a:t>11,471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050024" y="5861304"/>
            <a:ext cx="987552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60" b="0">
                <a:solidFill>
                  <a:srgbClr val="121A2A"/>
                </a:solidFill>
                <a:latin typeface="Noto Sans KR"/>
                <a:ea typeface="Noto Sans KR"/>
                <a:cs typeface="Noto Sans KR"/>
              </a:rPr>
              <a:t>100.0%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02920" y="6291072"/>
            <a:ext cx="841248" cy="9144"/>
          </a:xfrm>
          <a:prstGeom prst="rect">
            <a:avLst/>
          </a:prstGeom>
          <a:solidFill>
            <a:srgbClr val="F1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ounded Rectangle 111"/>
          <p:cNvSpPr/>
          <p:nvPr/>
        </p:nvSpPr>
        <p:spPr>
          <a:xfrm>
            <a:off x="8183879" y="3255264"/>
            <a:ext cx="3611880" cy="3172968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DD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8183879" y="3255264"/>
            <a:ext cx="3611880" cy="329184"/>
          </a:xfrm>
          <a:prstGeom prst="rect">
            <a:avLst/>
          </a:prstGeom>
          <a:solidFill>
            <a:srgbClr val="172033"/>
          </a:solidFill>
          <a:ln w="6350">
            <a:solidFill>
              <a:srgbClr val="17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8293607" y="3291840"/>
            <a:ext cx="530352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S코드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23959" y="3291840"/>
            <a:ext cx="530352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구분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354311" y="3291840"/>
            <a:ext cx="1938528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제품명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1292839" y="3291840"/>
            <a:ext cx="347472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SKU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293607" y="3593591"/>
            <a:ext cx="530352" cy="2219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0" b="1">
                <a:solidFill>
                  <a:srgbClr val="185FA5"/>
                </a:solidFill>
                <a:latin typeface="Noto Sans KR"/>
                <a:ea typeface="Noto Sans KR"/>
                <a:cs typeface="Noto Sans KR"/>
              </a:rPr>
              <a:t>S129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823959" y="3593591"/>
            <a:ext cx="530352" cy="2219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0" b="1">
                <a:solidFill>
                  <a:srgbClr val="D85A30"/>
                </a:solidFill>
                <a:latin typeface="Noto Sans KR"/>
                <a:ea typeface="Noto Sans KR"/>
                <a:cs typeface="Noto Sans KR"/>
              </a:rPr>
              <a:t>요청외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9354311" y="3593591"/>
            <a:ext cx="1938528" cy="2219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10" b="0">
                <a:solidFill>
                  <a:srgbClr val="121A2A"/>
                </a:solidFill>
                <a:latin typeface="Noto Sans KR"/>
                <a:ea typeface="Noto Sans KR"/>
                <a:cs typeface="Noto Sans KR"/>
              </a:rPr>
              <a:t>Iris SoulBrown_40팩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1292839" y="3593591"/>
            <a:ext cx="347472" cy="2219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650" b="1">
                <a:solidFill>
                  <a:srgbClr val="D85A30"/>
                </a:solidFill>
                <a:latin typeface="Noto Sans KR"/>
                <a:ea typeface="Noto Sans KR"/>
                <a:cs typeface="Noto Sans KR"/>
              </a:rPr>
              <a:t>12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8257031" y="3824685"/>
            <a:ext cx="3465576" cy="9144"/>
          </a:xfrm>
          <a:prstGeom prst="rect">
            <a:avLst/>
          </a:prstGeom>
          <a:solidFill>
            <a:srgbClr val="F1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8220455" y="3824685"/>
            <a:ext cx="3538728" cy="240237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8293607" y="3833829"/>
            <a:ext cx="530352" cy="2219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0" b="1">
                <a:solidFill>
                  <a:srgbClr val="185FA5"/>
                </a:solidFill>
                <a:latin typeface="Noto Sans KR"/>
                <a:ea typeface="Noto Sans KR"/>
                <a:cs typeface="Noto Sans KR"/>
              </a:rPr>
              <a:t>S320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8823959" y="3833829"/>
            <a:ext cx="530352" cy="2219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0" b="1">
                <a:solidFill>
                  <a:srgbClr val="1D9E75"/>
                </a:solidFill>
                <a:latin typeface="Noto Sans KR"/>
                <a:ea typeface="Noto Sans KR"/>
                <a:cs typeface="Noto Sans KR"/>
              </a:rPr>
              <a:t>요청내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9354311" y="3833829"/>
            <a:ext cx="1938528" cy="2219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10" b="0">
                <a:solidFill>
                  <a:srgbClr val="121A2A"/>
                </a:solidFill>
                <a:latin typeface="Noto Sans KR"/>
                <a:ea typeface="Noto Sans KR"/>
                <a:cs typeface="Noto Sans KR"/>
              </a:rPr>
              <a:t>Clalen O2O2 M_Micelia...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1292839" y="3833829"/>
            <a:ext cx="347472" cy="2219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650" b="1">
                <a:solidFill>
                  <a:srgbClr val="D85A30"/>
                </a:solidFill>
                <a:latin typeface="Noto Sans KR"/>
                <a:ea typeface="Noto Sans KR"/>
                <a:cs typeface="Noto Sans KR"/>
              </a:rPr>
              <a:t>9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8257031" y="4064923"/>
            <a:ext cx="3465576" cy="9144"/>
          </a:xfrm>
          <a:prstGeom prst="rect">
            <a:avLst/>
          </a:prstGeom>
          <a:solidFill>
            <a:srgbClr val="F1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8293607" y="4074067"/>
            <a:ext cx="530352" cy="2219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0" b="1">
                <a:solidFill>
                  <a:srgbClr val="185FA5"/>
                </a:solidFill>
                <a:latin typeface="Noto Sans KR"/>
                <a:ea typeface="Noto Sans KR"/>
                <a:cs typeface="Noto Sans KR"/>
              </a:rPr>
              <a:t>S154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8823959" y="4074067"/>
            <a:ext cx="530352" cy="2219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0" b="1">
                <a:solidFill>
                  <a:srgbClr val="1D9E75"/>
                </a:solidFill>
                <a:latin typeface="Noto Sans KR"/>
                <a:ea typeface="Noto Sans KR"/>
                <a:cs typeface="Noto Sans KR"/>
              </a:rPr>
              <a:t>요청내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9354311" y="4074067"/>
            <a:ext cx="1938528" cy="2219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10" b="0">
                <a:solidFill>
                  <a:srgbClr val="121A2A"/>
                </a:solidFill>
                <a:latin typeface="Noto Sans KR"/>
                <a:ea typeface="Noto Sans KR"/>
                <a:cs typeface="Noto Sans KR"/>
              </a:rPr>
              <a:t>Iris Toric Halo Brown...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292839" y="4074067"/>
            <a:ext cx="347472" cy="2219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650" b="1">
                <a:solidFill>
                  <a:srgbClr val="D85A30"/>
                </a:solidFill>
                <a:latin typeface="Noto Sans KR"/>
                <a:ea typeface="Noto Sans KR"/>
                <a:cs typeface="Noto Sans KR"/>
              </a:rPr>
              <a:t>5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8257031" y="4305161"/>
            <a:ext cx="3465576" cy="9144"/>
          </a:xfrm>
          <a:prstGeom prst="rect">
            <a:avLst/>
          </a:prstGeom>
          <a:solidFill>
            <a:srgbClr val="F1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8220455" y="4305161"/>
            <a:ext cx="3538728" cy="240237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8293607" y="4314305"/>
            <a:ext cx="530352" cy="2219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0" b="1">
                <a:solidFill>
                  <a:srgbClr val="185FA5"/>
                </a:solidFill>
                <a:latin typeface="Noto Sans KR"/>
                <a:ea typeface="Noto Sans KR"/>
                <a:cs typeface="Noto Sans KR"/>
              </a:rPr>
              <a:t>S309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823959" y="4314305"/>
            <a:ext cx="530352" cy="2219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0" b="1">
                <a:solidFill>
                  <a:srgbClr val="1D9E75"/>
                </a:solidFill>
                <a:latin typeface="Noto Sans KR"/>
                <a:ea typeface="Noto Sans KR"/>
                <a:cs typeface="Noto Sans KR"/>
              </a:rPr>
              <a:t>요청내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9354311" y="4314305"/>
            <a:ext cx="1938528" cy="2219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10" b="0">
                <a:solidFill>
                  <a:srgbClr val="121A2A"/>
                </a:solidFill>
                <a:latin typeface="Noto Sans KR"/>
                <a:ea typeface="Noto Sans KR"/>
                <a:cs typeface="Noto Sans KR"/>
              </a:rPr>
              <a:t>Clalen O2O2 D_Micelia...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1292839" y="4314305"/>
            <a:ext cx="347472" cy="2219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650" b="1">
                <a:solidFill>
                  <a:srgbClr val="D85A30"/>
                </a:solidFill>
                <a:latin typeface="Noto Sans KR"/>
                <a:ea typeface="Noto Sans KR"/>
                <a:cs typeface="Noto Sans KR"/>
              </a:rPr>
              <a:t>4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8257031" y="4545399"/>
            <a:ext cx="3465576" cy="9144"/>
          </a:xfrm>
          <a:prstGeom prst="rect">
            <a:avLst/>
          </a:prstGeom>
          <a:solidFill>
            <a:srgbClr val="F1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8293607" y="4554543"/>
            <a:ext cx="530352" cy="2219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0" b="1">
                <a:solidFill>
                  <a:srgbClr val="185FA5"/>
                </a:solidFill>
                <a:latin typeface="Noto Sans KR"/>
                <a:ea typeface="Noto Sans KR"/>
                <a:cs typeface="Noto Sans KR"/>
              </a:rPr>
              <a:t>S159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823959" y="4554543"/>
            <a:ext cx="530352" cy="2219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0" b="1">
                <a:solidFill>
                  <a:srgbClr val="1D9E75"/>
                </a:solidFill>
                <a:latin typeface="Noto Sans KR"/>
                <a:ea typeface="Noto Sans KR"/>
                <a:cs typeface="Noto Sans KR"/>
              </a:rPr>
              <a:t>요청내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354311" y="4554543"/>
            <a:ext cx="1938528" cy="2219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10" b="0">
                <a:solidFill>
                  <a:srgbClr val="121A2A"/>
                </a:solidFill>
                <a:latin typeface="Noto Sans KR"/>
                <a:ea typeface="Noto Sans KR"/>
                <a:cs typeface="Noto Sans KR"/>
              </a:rPr>
              <a:t>Iris Toric Halo Gray_...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1292839" y="4554543"/>
            <a:ext cx="347472" cy="2219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650" b="1">
                <a:solidFill>
                  <a:srgbClr val="D85A30"/>
                </a:solidFill>
                <a:latin typeface="Noto Sans KR"/>
                <a:ea typeface="Noto Sans KR"/>
                <a:cs typeface="Noto Sans KR"/>
              </a:rPr>
              <a:t>3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8257031" y="4785637"/>
            <a:ext cx="3465576" cy="9144"/>
          </a:xfrm>
          <a:prstGeom prst="rect">
            <a:avLst/>
          </a:prstGeom>
          <a:solidFill>
            <a:srgbClr val="F1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8220455" y="4785637"/>
            <a:ext cx="3538728" cy="240237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8293607" y="4794781"/>
            <a:ext cx="530352" cy="2219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0" b="1">
                <a:solidFill>
                  <a:srgbClr val="185FA5"/>
                </a:solidFill>
                <a:latin typeface="Noto Sans KR"/>
                <a:ea typeface="Noto Sans KR"/>
                <a:cs typeface="Noto Sans KR"/>
              </a:rPr>
              <a:t>S548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8823959" y="4794781"/>
            <a:ext cx="530352" cy="2219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0" b="1">
                <a:solidFill>
                  <a:srgbClr val="D85A30"/>
                </a:solidFill>
                <a:latin typeface="Noto Sans KR"/>
                <a:ea typeface="Noto Sans KR"/>
                <a:cs typeface="Noto Sans KR"/>
              </a:rPr>
              <a:t>요청외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354311" y="4794781"/>
            <a:ext cx="1938528" cy="2219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10" b="0">
                <a:solidFill>
                  <a:srgbClr val="121A2A"/>
                </a:solidFill>
                <a:latin typeface="Noto Sans KR"/>
                <a:ea typeface="Noto Sans KR"/>
                <a:cs typeface="Noto Sans KR"/>
              </a:rPr>
              <a:t>Clalen O2O2 M_6P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1292839" y="4794781"/>
            <a:ext cx="347472" cy="2219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650" b="1">
                <a:solidFill>
                  <a:srgbClr val="D85A30"/>
                </a:solidFill>
                <a:latin typeface="Noto Sans KR"/>
                <a:ea typeface="Noto Sans KR"/>
                <a:cs typeface="Noto Sans KR"/>
              </a:rPr>
              <a:t>3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8257031" y="5025874"/>
            <a:ext cx="3465576" cy="9144"/>
          </a:xfrm>
          <a:prstGeom prst="rect">
            <a:avLst/>
          </a:prstGeom>
          <a:solidFill>
            <a:srgbClr val="F1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8293607" y="5035018"/>
            <a:ext cx="530352" cy="2219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0" b="1">
                <a:solidFill>
                  <a:srgbClr val="185FA5"/>
                </a:solidFill>
                <a:latin typeface="Noto Sans KR"/>
                <a:ea typeface="Noto Sans KR"/>
                <a:cs typeface="Noto Sans KR"/>
              </a:rPr>
              <a:t>S611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8823959" y="5035018"/>
            <a:ext cx="530352" cy="2219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0" b="1">
                <a:solidFill>
                  <a:srgbClr val="1D9E75"/>
                </a:solidFill>
                <a:latin typeface="Noto Sans KR"/>
                <a:ea typeface="Noto Sans KR"/>
                <a:cs typeface="Noto Sans KR"/>
              </a:rPr>
              <a:t>요청내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9354311" y="5035018"/>
            <a:ext cx="1938528" cy="2219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10" b="0">
                <a:solidFill>
                  <a:srgbClr val="121A2A"/>
                </a:solidFill>
                <a:latin typeface="Noto Sans KR"/>
                <a:ea typeface="Noto Sans KR"/>
                <a:cs typeface="Noto Sans KR"/>
              </a:rPr>
              <a:t>Clalen O2O2 M_Natural...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1292839" y="5035018"/>
            <a:ext cx="347472" cy="2219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650" b="1">
                <a:solidFill>
                  <a:srgbClr val="D85A30"/>
                </a:solidFill>
                <a:latin typeface="Noto Sans KR"/>
                <a:ea typeface="Noto Sans KR"/>
                <a:cs typeface="Noto Sans KR"/>
              </a:rPr>
              <a:t>2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8257031" y="5266112"/>
            <a:ext cx="3465576" cy="9144"/>
          </a:xfrm>
          <a:prstGeom prst="rect">
            <a:avLst/>
          </a:prstGeom>
          <a:solidFill>
            <a:srgbClr val="F1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ectangle 155"/>
          <p:cNvSpPr/>
          <p:nvPr/>
        </p:nvSpPr>
        <p:spPr>
          <a:xfrm>
            <a:off x="8220455" y="5266112"/>
            <a:ext cx="3538728" cy="240237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8293607" y="5275256"/>
            <a:ext cx="530352" cy="2219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0" b="1">
                <a:solidFill>
                  <a:srgbClr val="185FA5"/>
                </a:solidFill>
                <a:latin typeface="Noto Sans KR"/>
                <a:ea typeface="Noto Sans KR"/>
                <a:cs typeface="Noto Sans KR"/>
              </a:rPr>
              <a:t>S147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8823959" y="5275256"/>
            <a:ext cx="530352" cy="2219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0" b="1">
                <a:solidFill>
                  <a:srgbClr val="1D9E75"/>
                </a:solidFill>
                <a:latin typeface="Noto Sans KR"/>
                <a:ea typeface="Noto Sans KR"/>
                <a:cs typeface="Noto Sans KR"/>
              </a:rPr>
              <a:t>요청내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9354311" y="5275256"/>
            <a:ext cx="1938528" cy="2219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10" b="0">
                <a:solidFill>
                  <a:srgbClr val="121A2A"/>
                </a:solidFill>
                <a:latin typeface="Noto Sans KR"/>
                <a:ea typeface="Noto Sans KR"/>
                <a:cs typeface="Noto Sans KR"/>
              </a:rPr>
              <a:t>Iris Toric Alicia Bro...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11292839" y="5275256"/>
            <a:ext cx="347472" cy="2219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650" b="1">
                <a:solidFill>
                  <a:srgbClr val="D85A30"/>
                </a:solidFill>
                <a:latin typeface="Noto Sans KR"/>
                <a:ea typeface="Noto Sans KR"/>
                <a:cs typeface="Noto Sans KR"/>
              </a:rPr>
              <a:t>1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8257031" y="5506350"/>
            <a:ext cx="3465576" cy="9144"/>
          </a:xfrm>
          <a:prstGeom prst="rect">
            <a:avLst/>
          </a:prstGeom>
          <a:solidFill>
            <a:srgbClr val="F1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8293607" y="5515494"/>
            <a:ext cx="530352" cy="2219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0" b="1">
                <a:solidFill>
                  <a:srgbClr val="185FA5"/>
                </a:solidFill>
                <a:latin typeface="Noto Sans KR"/>
                <a:ea typeface="Noto Sans KR"/>
                <a:cs typeface="Noto Sans KR"/>
              </a:rPr>
              <a:t>S162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8823959" y="5515494"/>
            <a:ext cx="530352" cy="2219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0" b="1">
                <a:solidFill>
                  <a:srgbClr val="D85A30"/>
                </a:solidFill>
                <a:latin typeface="Noto Sans KR"/>
                <a:ea typeface="Noto Sans KR"/>
                <a:cs typeface="Noto Sans KR"/>
              </a:rPr>
              <a:t>요청외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9354311" y="5515494"/>
            <a:ext cx="1938528" cy="2219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10" b="0">
                <a:solidFill>
                  <a:srgbClr val="121A2A"/>
                </a:solidFill>
                <a:latin typeface="Noto Sans KR"/>
                <a:ea typeface="Noto Sans KR"/>
                <a:cs typeface="Noto Sans KR"/>
              </a:rPr>
              <a:t>Iris BlueMoon_40팩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1292839" y="5515494"/>
            <a:ext cx="347472" cy="2219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650" b="1">
                <a:solidFill>
                  <a:srgbClr val="D85A30"/>
                </a:solidFill>
                <a:latin typeface="Noto Sans KR"/>
                <a:ea typeface="Noto Sans KR"/>
                <a:cs typeface="Noto Sans KR"/>
              </a:rPr>
              <a:t>1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8257031" y="5746588"/>
            <a:ext cx="3465576" cy="9144"/>
          </a:xfrm>
          <a:prstGeom prst="rect">
            <a:avLst/>
          </a:prstGeom>
          <a:solidFill>
            <a:srgbClr val="F1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Rectangle 166"/>
          <p:cNvSpPr/>
          <p:nvPr/>
        </p:nvSpPr>
        <p:spPr>
          <a:xfrm>
            <a:off x="8220455" y="5746588"/>
            <a:ext cx="3538728" cy="240237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8293607" y="5755732"/>
            <a:ext cx="530352" cy="2219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0" b="1">
                <a:solidFill>
                  <a:srgbClr val="185FA5"/>
                </a:solidFill>
                <a:latin typeface="Noto Sans KR"/>
                <a:ea typeface="Noto Sans KR"/>
                <a:cs typeface="Noto Sans KR"/>
              </a:rPr>
              <a:t>S318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8823959" y="5755732"/>
            <a:ext cx="530352" cy="2219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0" b="1">
                <a:solidFill>
                  <a:srgbClr val="1D9E75"/>
                </a:solidFill>
                <a:latin typeface="Noto Sans KR"/>
                <a:ea typeface="Noto Sans KR"/>
                <a:cs typeface="Noto Sans KR"/>
              </a:rPr>
              <a:t>요청내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9354311" y="5755732"/>
            <a:ext cx="1938528" cy="2219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10" b="0">
                <a:solidFill>
                  <a:srgbClr val="121A2A"/>
                </a:solidFill>
                <a:latin typeface="Noto Sans KR"/>
                <a:ea typeface="Noto Sans KR"/>
                <a:cs typeface="Noto Sans KR"/>
              </a:rPr>
              <a:t>Clalen O2O2 M_Micelia...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292839" y="5755732"/>
            <a:ext cx="347472" cy="2219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650" b="1">
                <a:solidFill>
                  <a:srgbClr val="D85A30"/>
                </a:solidFill>
                <a:latin typeface="Noto Sans KR"/>
                <a:ea typeface="Noto Sans KR"/>
                <a:cs typeface="Noto Sans KR"/>
              </a:rPr>
              <a:t>1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8257031" y="5986826"/>
            <a:ext cx="3465576" cy="9144"/>
          </a:xfrm>
          <a:prstGeom prst="rect">
            <a:avLst/>
          </a:prstGeom>
          <a:solidFill>
            <a:srgbClr val="F1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8293607" y="5995970"/>
            <a:ext cx="530352" cy="2219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0" b="1">
                <a:solidFill>
                  <a:srgbClr val="185FA5"/>
                </a:solidFill>
                <a:latin typeface="Noto Sans KR"/>
                <a:ea typeface="Noto Sans KR"/>
                <a:cs typeface="Noto Sans KR"/>
              </a:rPr>
              <a:t>S547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8823959" y="5995970"/>
            <a:ext cx="530352" cy="2219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0" b="1">
                <a:solidFill>
                  <a:srgbClr val="D85A30"/>
                </a:solidFill>
                <a:latin typeface="Noto Sans KR"/>
                <a:ea typeface="Noto Sans KR"/>
                <a:cs typeface="Noto Sans KR"/>
              </a:rPr>
              <a:t>요청외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9354311" y="5995970"/>
            <a:ext cx="1938528" cy="2219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10" b="0">
                <a:solidFill>
                  <a:srgbClr val="121A2A"/>
                </a:solidFill>
                <a:latin typeface="Noto Sans KR"/>
                <a:ea typeface="Noto Sans KR"/>
                <a:cs typeface="Noto Sans KR"/>
              </a:rPr>
              <a:t>Clalen O2O2 M_2P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1292839" y="5995970"/>
            <a:ext cx="347472" cy="2219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650" b="1">
                <a:solidFill>
                  <a:srgbClr val="D85A30"/>
                </a:solidFill>
                <a:latin typeface="Noto Sans KR"/>
                <a:ea typeface="Noto Sans KR"/>
                <a:cs typeface="Noto Sans KR"/>
              </a:rPr>
              <a:t>1</a:t>
            </a:r>
          </a:p>
        </p:txBody>
      </p:sp>
      <p:sp>
        <p:nvSpPr>
          <p:cNvPr id="177" name="Rectangle 176"/>
          <p:cNvSpPr/>
          <p:nvPr/>
        </p:nvSpPr>
        <p:spPr>
          <a:xfrm>
            <a:off x="8257031" y="6227064"/>
            <a:ext cx="3465576" cy="9144"/>
          </a:xfrm>
          <a:prstGeom prst="rect">
            <a:avLst/>
          </a:prstGeom>
          <a:solidFill>
            <a:srgbClr val="F1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TextBox 177"/>
          <p:cNvSpPr txBox="1"/>
          <p:nvPr/>
        </p:nvSpPr>
        <p:spPr>
          <a:xfrm>
            <a:off x="8293607" y="6254496"/>
            <a:ext cx="3392424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90" b="0">
                <a:solidFill>
                  <a:srgbClr val="6B7280"/>
                </a:solidFill>
                <a:latin typeface="Noto Sans KR"/>
                <a:ea typeface="Noto Sans KR"/>
                <a:cs typeface="Noto Sans KR"/>
              </a:rPr>
              <a:t>요청외 SKU 포함 시 S코드 전체 요청외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411480" y="6547104"/>
            <a:ext cx="113385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B7280"/>
                </a:solidFill>
                <a:latin typeface="Noto Sans KR"/>
                <a:ea typeface="Noto Sans KR"/>
                <a:cs typeface="Noto Sans KR"/>
              </a:rPr>
              <a:t>진도율은 생산요청 기준이며, 요청/긴급 대응 품목은 일일 재고표 기준으로 산출됩니다.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