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27432"/>
          </a:xfrm>
          <a:prstGeom prst="rect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6035040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국내 제품 포장현황 운영 보고서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6344"/>
            <a:ext cx="60350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국내 요청 물량의 생산, 포장, 용마 입고 진행 현황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35240" y="201168"/>
            <a:ext cx="42519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E5E7EB"/>
                </a:solidFill>
                <a:latin typeface="Noto Sans KR"/>
                <a:ea typeface="Noto Sans KR"/>
                <a:cs typeface="Noto Sans KR"/>
              </a:rPr>
              <a:t>기준: ??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438912"/>
            <a:ext cx="425196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산출시각: 2026-06-25 13:49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950976"/>
            <a:ext cx="11384280" cy="43891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66928" y="1051560"/>
            <a:ext cx="566928" cy="219456"/>
          </a:xfrm>
          <a:prstGeom prst="roundRect">
            <a:avLst/>
          </a:prstGeom>
          <a:solidFill>
            <a:srgbClr val="D85A30"/>
          </a:solidFill>
          <a:ln w="5080">
            <a:solidFill>
              <a:srgbClr val="D85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060704"/>
            <a:ext cx="56692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주의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61872" y="1078992"/>
            <a:ext cx="1014984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용마입고율 13.3% / 미입고 165,234 PACK / 긴급 SKU 42개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517904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공급 운영 KPI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1737360"/>
            <a:ext cx="3657600" cy="12618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1208" y="1810512"/>
            <a:ext cx="420624" cy="41148"/>
          </a:xfrm>
          <a:prstGeom prst="rect">
            <a:avLst/>
          </a:prstGeom>
          <a:solidFill>
            <a:srgbClr val="185FA5"/>
          </a:solidFill>
          <a:ln w="63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9496" y="1901952"/>
            <a:ext cx="3401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전체 KPI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9496" y="2103120"/>
            <a:ext cx="11704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13.3%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360" y="221284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용마입고율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9496" y="2496312"/>
            <a:ext cx="3383280" cy="5486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9496" y="2496312"/>
            <a:ext cx="450402" cy="54864"/>
          </a:xfrm>
          <a:prstGeom prst="rect">
            <a:avLst/>
          </a:prstGeom>
          <a:solidFill>
            <a:srgbClr val="185FA5"/>
          </a:solidFill>
          <a:ln w="6350">
            <a:solidFill>
              <a:srgbClr val="185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9496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요청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190,609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입고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25,375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40280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미입고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240280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165,234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90672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생산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090672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65.1%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279392" y="1737360"/>
            <a:ext cx="3657600" cy="12618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1810512"/>
            <a:ext cx="420624" cy="41148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07407" y="1901952"/>
            <a:ext cx="3401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본품 KPI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07407" y="2103120"/>
            <a:ext cx="11704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34.7%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48272" y="221284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용마입고율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407407" y="2496312"/>
            <a:ext cx="3383280" cy="5486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407407" y="2496312"/>
            <a:ext cx="1175634" cy="54864"/>
          </a:xfrm>
          <a:prstGeom prst="rect">
            <a:avLst/>
          </a:prstGeom>
          <a:solidFill>
            <a:srgbClr val="1D9E75"/>
          </a:solidFill>
          <a:ln w="6350">
            <a:solidFill>
              <a:srgbClr val="1D9E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407407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요청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07407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73,025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57799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입고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57799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25,375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미입고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08192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47,650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58583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생산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58583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66.8%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1737360"/>
            <a:ext cx="3657600" cy="126187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247888" y="1810512"/>
            <a:ext cx="420624" cy="41148"/>
          </a:xfrm>
          <a:prstGeom prst="rect">
            <a:avLst/>
          </a:prstGeom>
          <a:solidFill>
            <a:srgbClr val="BA7517"/>
          </a:solidFill>
          <a:ln w="6350">
            <a:solidFill>
              <a:srgbClr val="BA75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66176" y="1901952"/>
            <a:ext cx="340156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샘플 KPI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66176" y="2103120"/>
            <a:ext cx="1170432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0.0%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607040" y="2212848"/>
            <a:ext cx="82296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0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용마입고율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266176" y="2496312"/>
            <a:ext cx="3383280" cy="5486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66176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요청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266176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117,584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8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입고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116568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966960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미입고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66960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117,584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817352" y="2651760"/>
            <a:ext cx="850392" cy="1280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생산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817352" y="2788920"/>
            <a:ext cx="850392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9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60.3%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11480" y="3090672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우선 대응 TOP 6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83879" y="3090672"/>
            <a:ext cx="3611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일일 재고표 기준 예외 대응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11480" y="3310128"/>
            <a:ext cx="7635240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1480" y="3310128"/>
            <a:ext cx="7635240" cy="347472"/>
          </a:xfrm>
          <a:prstGeom prst="rect">
            <a:avLst/>
          </a:prstGeom>
          <a:solidFill>
            <a:srgbClr val="172033"/>
          </a:solidFill>
          <a:ln w="63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57784" y="3346704"/>
            <a:ext cx="5303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순위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88136" y="3346704"/>
            <a:ext cx="290779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995928" y="3346704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 PACK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983480" y="3346704"/>
            <a:ext cx="10424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용마입고율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025896" y="3346704"/>
            <a:ext cx="10241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미입고 PACK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50024" y="3346704"/>
            <a:ext cx="98755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19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생산진도율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57784" y="3666744"/>
            <a:ext cx="5303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88136" y="3666744"/>
            <a:ext cx="290779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D_Sepia Choco EX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3995928" y="3666744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36,693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4983480" y="3666744"/>
            <a:ext cx="1042415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26.3%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025896" y="3666744"/>
            <a:ext cx="102412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27,053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050024" y="3666744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68.1%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02920" y="4096512"/>
            <a:ext cx="841248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466344" y="4096512"/>
            <a:ext cx="91440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57784" y="4105656"/>
            <a:ext cx="5303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88136" y="4105656"/>
            <a:ext cx="290779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D_Pale Choco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995928" y="4105656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20,699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983480" y="4105656"/>
            <a:ext cx="1042415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0.0%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025896" y="4105656"/>
            <a:ext cx="102412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20,699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7050024" y="4105656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98.4%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2920" y="4535424"/>
            <a:ext cx="841248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7784" y="4544568"/>
            <a:ext cx="5303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88136" y="4544568"/>
            <a:ext cx="290779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D_Mute Brown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995928" y="4544568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18,959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983480" y="4544568"/>
            <a:ext cx="1042415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0.0%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025896" y="4544568"/>
            <a:ext cx="102412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18,959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050024" y="4544568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80.0%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02920" y="4974336"/>
            <a:ext cx="841248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6344" y="4974336"/>
            <a:ext cx="91440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557784" y="4983479"/>
            <a:ext cx="5303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8136" y="4983479"/>
            <a:ext cx="290779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1Day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995928" y="4983479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17,824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4983480" y="4983479"/>
            <a:ext cx="1042415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0.1%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6025896" y="4983479"/>
            <a:ext cx="102412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17,799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050024" y="4983479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100.0%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02920" y="5413248"/>
            <a:ext cx="841248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57784" y="5422392"/>
            <a:ext cx="5303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88136" y="5422392"/>
            <a:ext cx="290779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D_Ash Brown EX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3995928" y="5422392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16,485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983480" y="5422392"/>
            <a:ext cx="1042415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0.9%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025896" y="5422392"/>
            <a:ext cx="102412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16,344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7050024" y="5422392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59.8%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502920" y="5852160"/>
            <a:ext cx="841248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466344" y="5852160"/>
            <a:ext cx="914400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557784" y="5861304"/>
            <a:ext cx="5303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6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88136" y="5861304"/>
            <a:ext cx="290779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8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D_Lake Gray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3995928" y="5861304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11,471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983480" y="5861304"/>
            <a:ext cx="1042415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0.0%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025896" y="5861304"/>
            <a:ext cx="1024128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11,471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7050024" y="5861304"/>
            <a:ext cx="987552" cy="42062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100.0%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" y="6291072"/>
            <a:ext cx="841248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8183879" y="3310128"/>
            <a:ext cx="3611880" cy="2999232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8183879" y="3310128"/>
            <a:ext cx="3611880" cy="347472"/>
          </a:xfrm>
          <a:prstGeom prst="rect">
            <a:avLst/>
          </a:prstGeom>
          <a:solidFill>
            <a:srgbClr val="172033"/>
          </a:solidFill>
          <a:ln w="63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293607" y="3346704"/>
            <a:ext cx="65836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품목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8951976" y="3346704"/>
            <a:ext cx="1481328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제품명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0433304" y="3346704"/>
            <a:ext cx="512064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재고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0945368" y="3346704"/>
            <a:ext cx="713232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가용 PCS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8293607" y="3685032"/>
            <a:ext cx="6583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S129-06.50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51976" y="3685032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SoulBrown_40팩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10433304" y="3685032"/>
            <a:ext cx="5120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-92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10945368" y="3685032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8257031" y="4096512"/>
            <a:ext cx="3465576" cy="9144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8211311" y="4096512"/>
            <a:ext cx="3557016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8293607" y="4123944"/>
            <a:ext cx="6583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S129-02.00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951976" y="4123944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SoulBrown_40팩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33304" y="4123944"/>
            <a:ext cx="5120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-54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945368" y="4123944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257031" y="4535424"/>
            <a:ext cx="3465576" cy="9144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293607" y="4562856"/>
            <a:ext cx="6583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S129-02.25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8951976" y="4562856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SoulBrown_40팩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433304" y="4562856"/>
            <a:ext cx="5120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-47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10945368" y="4562856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8257031" y="4974336"/>
            <a:ext cx="3465576" cy="9144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211311" y="4974336"/>
            <a:ext cx="3557016" cy="438912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293607" y="5001768"/>
            <a:ext cx="6583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S129-01.50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951976" y="5001768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SoulBrown_40팩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10433304" y="5001768"/>
            <a:ext cx="5120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-33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945368" y="5001768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8257031" y="5413248"/>
            <a:ext cx="3465576" cy="9144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8293607" y="5440680"/>
            <a:ext cx="65836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S129-05.50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951976" y="5440680"/>
            <a:ext cx="148132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9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SoulBrown_40팩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10433304" y="5440680"/>
            <a:ext cx="51206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-30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945368" y="5440680"/>
            <a:ext cx="71323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7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0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8257031" y="5852160"/>
            <a:ext cx="3465576" cy="9144"/>
          </a:xfrm>
          <a:prstGeom prst="rect">
            <a:avLst/>
          </a:prstGeom>
          <a:solidFill>
            <a:srgbClr val="DDE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411480" y="6547104"/>
            <a:ext cx="11338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진도율은 생산요청 기준이며, 요청/긴급 대응 품목은 일일 재고표 기준으로 산출됩니다.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7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04672"/>
          </a:xfrm>
          <a:prstGeom prst="rect">
            <a:avLst/>
          </a:prstGeom>
          <a:solidFill>
            <a:srgbClr val="1720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86384"/>
            <a:ext cx="12191695" cy="27432"/>
          </a:xfrm>
          <a:prstGeom prst="rect">
            <a:avLst/>
          </a:prstGeom>
          <a:solidFill>
            <a:srgbClr val="D85A30"/>
          </a:solidFill>
          <a:ln w="6350">
            <a:solidFill>
              <a:srgbClr val="D85A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46304"/>
            <a:ext cx="6217920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 긴급 S코드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66344"/>
            <a:ext cx="658368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0">
                <a:solidFill>
                  <a:srgbClr val="CBD5E1"/>
                </a:solidFill>
                <a:latin typeface="Noto Sans KR"/>
                <a:ea typeface="Noto Sans KR"/>
                <a:cs typeface="Noto Sans KR"/>
              </a:rPr>
              <a:t>일일 재고표 기준 긴급요청 품목을 S코드 단위로 집계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06640" y="301752"/>
            <a:ext cx="43434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80" b="0">
                <a:solidFill>
                  <a:srgbClr val="E5E7EB"/>
                </a:solidFill>
                <a:latin typeface="Noto Sans KR"/>
                <a:ea typeface="Noto Sans KR"/>
                <a:cs typeface="Noto Sans KR"/>
              </a:rPr>
              <a:t>기준: ?? / 산출시각: 2026-06-25 13:49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024128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S코드 11개 / SKU 42개 / 요청외 S코드 4개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382512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0">
                <a:solidFill>
                  <a:srgbClr val="6B7280"/>
                </a:solidFill>
                <a:latin typeface="Noto Sans KR"/>
                <a:ea typeface="Noto Sans KR"/>
                <a:cs typeface="Noto Sans KR"/>
              </a:rPr>
              <a:t>요청외는 해당 S코드 안에 요청외 긴급 SKU가 1개 이상 포함된 경우로 분류합니다.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371600"/>
            <a:ext cx="11064240" cy="484632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DDE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371600"/>
            <a:ext cx="11064240" cy="384048"/>
          </a:xfrm>
          <a:prstGeom prst="rect">
            <a:avLst/>
          </a:prstGeom>
          <a:solidFill>
            <a:srgbClr val="172033"/>
          </a:solidFill>
          <a:ln w="6350">
            <a:solidFill>
              <a:srgbClr val="172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" y="1426464"/>
            <a:ext cx="960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S코드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73352" y="1426464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요청구분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6352" y="1426464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제품명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34472" y="1426464"/>
            <a:ext cx="8686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SKU 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1773936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S129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73352" y="177393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요청외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16352" y="1773936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SoulBrown_40팩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34472" y="1773936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2112264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2112264"/>
            <a:ext cx="10917936" cy="3566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3232" y="2130552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S320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73352" y="2130552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16352" y="2130552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M_Micelia_Mute Brown_45%_2P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34472" y="2130552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9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58368" y="2468880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" y="2487168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S154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73352" y="248716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16352" y="2487168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Toric Halo Brown_30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34472" y="2487168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" y="2825496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2825496"/>
            <a:ext cx="10917936" cy="3566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" y="2843784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S309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73352" y="284378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6352" y="2843784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D_Micelia_Mute Brown_10P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34472" y="2843784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" y="3182112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3200400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S159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673352" y="3200400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16352" y="3200400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Toric Halo Gray_30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34472" y="3200400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368" y="3538728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0080" y="3538728"/>
            <a:ext cx="10917936" cy="3566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3232" y="3557016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S548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73352" y="355701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요청외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16352" y="3557016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M_6P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634472" y="3557016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3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8368" y="3895344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3232" y="3913631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S611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673352" y="3913631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816352" y="3913631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M_Natural Chocolat EX_2P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634472" y="3913631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8" y="4251959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40080" y="4251960"/>
            <a:ext cx="10917936" cy="3566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" y="4270248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S147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673352" y="4270248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816352" y="4270248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Toric Alicia Brown_30팩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634472" y="4270248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58368" y="4608576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13232" y="4626864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S162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73352" y="4626864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요청외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816352" y="4626864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Iris BlueMoon_40팩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634472" y="4626864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4965192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" y="4965192"/>
            <a:ext cx="10917936" cy="356616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713232" y="4983479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S318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673352" y="4983479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D9E75"/>
                </a:solidFill>
                <a:latin typeface="Noto Sans KR"/>
                <a:ea typeface="Noto Sans KR"/>
                <a:cs typeface="Noto Sans KR"/>
              </a:rPr>
              <a:t>요청내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816352" y="4983479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M_Micelia_Deep Black_45%_2P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634472" y="4983479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58368" y="5321807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13232" y="5340096"/>
            <a:ext cx="960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185FA5"/>
                </a:solidFill>
                <a:latin typeface="Noto Sans KR"/>
                <a:ea typeface="Noto Sans KR"/>
                <a:cs typeface="Noto Sans KR"/>
              </a:rPr>
              <a:t>S547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73352" y="5340096"/>
            <a:ext cx="1143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요청외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2816352" y="5340096"/>
            <a:ext cx="78181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0">
                <a:solidFill>
                  <a:srgbClr val="121A2A"/>
                </a:solidFill>
                <a:latin typeface="Noto Sans KR"/>
                <a:ea typeface="Noto Sans KR"/>
                <a:cs typeface="Noto Sans KR"/>
              </a:rPr>
              <a:t>Clalen O2O2 M_2P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634472" y="5340096"/>
            <a:ext cx="86868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69" b="1">
                <a:solidFill>
                  <a:srgbClr val="D85A30"/>
                </a:solidFill>
                <a:latin typeface="Noto Sans KR"/>
                <a:ea typeface="Noto Sans KR"/>
                <a:cs typeface="Noto Sans KR"/>
              </a:rPr>
              <a:t>1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58368" y="5678424"/>
            <a:ext cx="10881360" cy="9144"/>
          </a:xfrm>
          <a:prstGeom prst="rect">
            <a:avLst/>
          </a:prstGeom>
          <a:solidFill>
            <a:srgbClr val="F1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