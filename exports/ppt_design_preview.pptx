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27432"/>
          </a:xfrm>
          <a:prstGeom prst="rect">
            <a:avLst/>
          </a:prstGeom>
          <a:solidFill>
            <a:srgbClr val="D85A30"/>
          </a:solidFill>
          <a:ln w="6350">
            <a:solidFill>
              <a:srgbClr val="D85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국내 제품 포장현황 운영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6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국내 요청 물량의 생산, 포장, 용마 입고 진행 현황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201168"/>
            <a:ext cx="42519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E5E7EB"/>
                </a:solidFill>
                <a:latin typeface="Noto Sans KR"/>
                <a:ea typeface="Noto Sans KR"/>
                <a:cs typeface="Noto Sans KR"/>
              </a:rPr>
              <a:t>기준: ??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438912"/>
            <a:ext cx="42519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산출시각: 2026-06-25 12:44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950976"/>
            <a:ext cx="11384280" cy="4389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051560"/>
            <a:ext cx="566928" cy="219456"/>
          </a:xfrm>
          <a:prstGeom prst="roundRect">
            <a:avLst/>
          </a:prstGeom>
          <a:solidFill>
            <a:srgbClr val="D85A30"/>
          </a:solidFill>
          <a:ln w="5080">
            <a:solidFill>
              <a:srgbClr val="D85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0607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1078992"/>
            <a:ext cx="10149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용마입고율 13.3% / 미입고 165,234 PACK / 긴급 15건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51790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공급 운영 KPI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1208" y="1810512"/>
            <a:ext cx="420624" cy="41148"/>
          </a:xfrm>
          <a:prstGeom prst="rect">
            <a:avLst/>
          </a:prstGeom>
          <a:solidFill>
            <a:srgbClr val="185FA5"/>
          </a:solidFill>
          <a:ln w="6350">
            <a:solidFill>
              <a:srgbClr val="185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전체 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" y="2496312"/>
            <a:ext cx="450402" cy="54864"/>
          </a:xfrm>
          <a:prstGeom prst="rect">
            <a:avLst/>
          </a:prstGeom>
          <a:solidFill>
            <a:srgbClr val="185FA5"/>
          </a:solidFill>
          <a:ln w="6350">
            <a:solidFill>
              <a:srgbClr val="185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190,609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25,375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165,234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067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65.1%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1810512"/>
            <a:ext cx="420624" cy="41148"/>
          </a:xfrm>
          <a:prstGeom prst="rect">
            <a:avLst/>
          </a:prstGeom>
          <a:solidFill>
            <a:srgbClr val="1D9E75"/>
          </a:solidFill>
          <a:ln w="6350"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07407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본품 KPI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34.7%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07407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07407" y="2496312"/>
            <a:ext cx="1175634" cy="54864"/>
          </a:xfrm>
          <a:prstGeom prst="rect">
            <a:avLst/>
          </a:prstGeom>
          <a:solidFill>
            <a:srgbClr val="1D9E75"/>
          </a:solidFill>
          <a:ln w="6350">
            <a:solidFill>
              <a:srgbClr val="1D9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7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73,025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799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799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25,375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819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819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47,650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58583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58583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66.8%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60" y="1737360"/>
            <a:ext cx="3657600" cy="126187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47888" y="1810512"/>
            <a:ext cx="420624" cy="41148"/>
          </a:xfrm>
          <a:prstGeom prst="rect">
            <a:avLst/>
          </a:prstGeom>
          <a:solidFill>
            <a:srgbClr val="BA7517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6176" y="1901952"/>
            <a:ext cx="34015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샘플 KPI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2103120"/>
            <a:ext cx="1170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221284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66176" y="2496312"/>
            <a:ext cx="3383280" cy="5486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6176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117,584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16568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6568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미입고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117,584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17352" y="2651760"/>
            <a:ext cx="85039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생산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17352" y="278892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60.3%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309067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우선 대응 TOP 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3090672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일일 재고표 기준 예외 대응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3310128"/>
            <a:ext cx="7635240" cy="299923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3310128"/>
            <a:ext cx="7635240" cy="347472"/>
          </a:xfrm>
          <a:prstGeom prst="rect">
            <a:avLst/>
          </a:prstGeom>
          <a:solidFill>
            <a:srgbClr val="172033"/>
          </a:solidFill>
          <a:ln w="6350"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8" y="3346704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3346704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제품명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95928" y="3346704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요청 PACK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3346704"/>
            <a:ext cx="104241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용마입고율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25896" y="3346704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미입고 PACK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50024" y="3346704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생산진도율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8" y="3666744"/>
            <a:ext cx="43891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0120" y="3666744"/>
            <a:ext cx="303580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D_Sepia Choco 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95928" y="366674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36,693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83480" y="3666744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26.3%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25896" y="3666744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27,053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0024" y="366674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68.1%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4096512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6344" y="4096512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" y="4105656"/>
            <a:ext cx="43891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" y="4105656"/>
            <a:ext cx="303580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D_Pale Choco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95928" y="4105656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20,699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83480" y="4105656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25896" y="4105656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20,699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0024" y="4105656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98.4%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4535424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1208" y="4544568"/>
            <a:ext cx="43891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0120" y="4544568"/>
            <a:ext cx="303580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D_Mute Brown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95928" y="4544568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18,959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83480" y="4544568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25896" y="4544568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18,959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0024" y="4544568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80.0%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" y="4974336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344" y="4974336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21208" y="4983479"/>
            <a:ext cx="43891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0120" y="4983479"/>
            <a:ext cx="303580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1Day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95928" y="4983479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17,824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83480" y="4983479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25896" y="4983479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17,799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50024" y="4983479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100.0%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413248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21208" y="5422392"/>
            <a:ext cx="43891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60120" y="5422392"/>
            <a:ext cx="303580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D_Ash Brown EX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95928" y="5422392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16,485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83480" y="5422392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25896" y="5422392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16,344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50024" y="5422392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59.8%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5852160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66344" y="5852160"/>
            <a:ext cx="914400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21208" y="5861304"/>
            <a:ext cx="43891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60120" y="5861304"/>
            <a:ext cx="303580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Clalen O2O2 D_Lake Gray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95928" y="586130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11,471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83480" y="5861304"/>
            <a:ext cx="1042415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025896" y="5861304"/>
            <a:ext cx="102412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11,471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50024" y="5861304"/>
            <a:ext cx="987552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6291072"/>
            <a:ext cx="841248" cy="91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8275320" y="3310128"/>
            <a:ext cx="3520440" cy="299923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275320" y="3310128"/>
            <a:ext cx="3520440" cy="347472"/>
          </a:xfrm>
          <a:prstGeom prst="rect">
            <a:avLst/>
          </a:prstGeom>
          <a:solidFill>
            <a:srgbClr val="172033"/>
          </a:solidFill>
          <a:ln w="6350"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66760" y="3346704"/>
            <a:ext cx="5852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품목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51976" y="334670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제품명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296144" y="3346704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재고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789920" y="3346704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포장가능재고 PCS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366760" y="3685032"/>
            <a:ext cx="585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S129-06.50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51976" y="3685032"/>
            <a:ext cx="13441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96144" y="3685032"/>
            <a:ext cx="4937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789920" y="3685032"/>
            <a:ext cx="896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48472" y="4096512"/>
            <a:ext cx="337413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302752" y="4096512"/>
            <a:ext cx="3465576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66760" y="4123944"/>
            <a:ext cx="585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S129-02.00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951976" y="4123944"/>
            <a:ext cx="13441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96144" y="4123944"/>
            <a:ext cx="4937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-54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89920" y="4123944"/>
            <a:ext cx="896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348472" y="4535424"/>
            <a:ext cx="337413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366760" y="4562856"/>
            <a:ext cx="585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S129-02.25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951976" y="4562856"/>
            <a:ext cx="13441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96144" y="4562856"/>
            <a:ext cx="4937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-47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789920" y="4562856"/>
            <a:ext cx="896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348472" y="4974336"/>
            <a:ext cx="337413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302752" y="4974336"/>
            <a:ext cx="3465576" cy="43891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366760" y="5001768"/>
            <a:ext cx="585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S129-01.50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951976" y="5001768"/>
            <a:ext cx="13441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96144" y="5001768"/>
            <a:ext cx="4937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89920" y="5001768"/>
            <a:ext cx="896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348472" y="5413248"/>
            <a:ext cx="337413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66760" y="5440680"/>
            <a:ext cx="585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S129-05.50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51976" y="5440680"/>
            <a:ext cx="13441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Iris SoulBrown_40팩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96144" y="5440680"/>
            <a:ext cx="4937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D85A30"/>
                </a:solidFill>
                <a:latin typeface="Noto Sans KR"/>
                <a:ea typeface="Noto Sans KR"/>
                <a:cs typeface="Noto Sans KR"/>
              </a:rPr>
              <a:t>-30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89920" y="5440680"/>
            <a:ext cx="896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121A2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348472" y="5852160"/>
            <a:ext cx="3374136" cy="9144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11480" y="6547104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진도율은 생산요청 기준이며, 요청/긴급 대응 품목은 일일 재고표 기준으로 산출됩니다.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